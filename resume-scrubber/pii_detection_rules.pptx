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F2337"/>
                </a:solidFill>
                <a:latin typeface="Calibri"/>
              </a:defRPr>
            </a:pPr>
            <a:r>
              <a:t>PII Detection — Regex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560320" cy="317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148840" cy="4206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14884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97864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Lookbehind: (?&lt;![\w@.])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Intl prefix: (?:(?:\+|00)\s?\d{1,3}[\s.\-]?)?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Area code: (?:\(\s?\d{1,4}\s?\)[\s.\-]?)?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Core digits: \d{1,4}(?:[\s.\-]?\d{1,4}){1,5}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9125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Extension: (?:\s?(?:ext|x)\.?\s?\d{1,5})?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Lookahead: (?![\w])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959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85800" y="439826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Digit gate: 7 ≤ len(digits) ≤ 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143000"/>
            <a:ext cx="2148840" cy="4206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0360" y="1143000"/>
            <a:ext cx="214884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1197864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Email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5819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Local part: [a-zA-Z0-9._%+\-]+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198424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At sign: 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38658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Domain: [a-zA-Z0-9.\-]+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788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Dot: \.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19125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TLD: [a-zA-Z]{2,}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593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971800" y="39959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971800" y="439826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(no validation gate needed)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1143000"/>
            <a:ext cx="2148840" cy="4206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6360" y="1143000"/>
            <a:ext cx="214884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1197864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 Links / URLs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15819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Protocol: (?:https?://|www\.)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198424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Bare domain: [a-zA-Z0-9\-]+\.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38658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Known TLDs: com|org|net|io|dev|me|co|info|biz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2788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Boundary: (?:/|\b)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19125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Path chars: [^\s&lt;&gt;()\[\]"']+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593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257800" y="39959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Hyperlinks: &lt;w:hyperlink&gt; unwrapped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39826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Rels: image+hyperlink types stripped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1143000"/>
            <a:ext cx="2148840" cy="4206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52360" y="1143000"/>
            <a:ext cx="214884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1197864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15819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Containers: //w:drawing | //w:pict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198424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Text check: .//*[local-name()='t']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38658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Textbox check: .//*[local-name()='txbx']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788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7543800" y="319125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Has text: strip pic/blip/blipFill/imagedata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593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No text: remove entire element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9959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7543800" y="439826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Rel type: …/relationships/image removed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0" y="1143000"/>
            <a:ext cx="2148840" cy="4206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738360" y="1143000"/>
            <a:ext cx="214884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1197864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Addresses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15819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Postal codes: \b\d{5}(?:-\d{4})?\b  (+3)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198424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Street type: suffix|prefix|fused  (+3)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238658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PO Box: p\.?o\.?\s*box  (+3)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2788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House num: \d{1,5}[A-Za-z]?  (+2)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319125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Region: AL|AK|…|DC|NSW|…  (+2)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3593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Weak postal: \d{4}\s+[A-Z]\w+  (+2)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39959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Unit/suite: suite|apt|unit\s*\w+  (+1)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39826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Direction: \b[NSEW]{1,2}\.?\s  (+1)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4800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B5563"/>
                </a:solidFill>
                <a:latin typeface="Consolas"/>
              </a:defRPr>
            </a:pPr>
            <a:r>
              <a:t>Country: USA|United States|…  (+1)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Addresses: score ≥ 5 → redact entire line  •  Neighbour context boost  •  PII (phone/email/URL) stripped before address scoring to avoid false positives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